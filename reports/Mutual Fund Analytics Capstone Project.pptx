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24" r:id="rId5"/>
    <p:sldId id="315" r:id="rId6"/>
    <p:sldId id="327" r:id="rId7"/>
    <p:sldId id="328" r:id="rId8"/>
    <p:sldId id="329" r:id="rId9"/>
    <p:sldId id="330" r:id="rId10"/>
    <p:sldId id="331" r:id="rId11"/>
    <p:sldId id="335" r:id="rId12"/>
    <p:sldId id="336" r:id="rId13"/>
    <p:sldId id="337" r:id="rId14"/>
    <p:sldId id="334" r:id="rId15"/>
    <p:sldId id="333" r:id="rId16"/>
    <p:sldId id="33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5033" autoAdjust="0"/>
  </p:normalViewPr>
  <p:slideViewPr>
    <p:cSldViewPr snapToGrid="0">
      <p:cViewPr>
        <p:scale>
          <a:sx n="70" d="100"/>
          <a:sy n="70" d="100"/>
        </p:scale>
        <p:origin x="525" y="4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7/27/2026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80987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7/27/2026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l="9676" r="9676"/>
          <a:stretch/>
        </p:blipFill>
        <p:spPr>
          <a:xfrm>
            <a:off x="6824" y="0"/>
            <a:ext cx="12192000" cy="6858000"/>
          </a:xfrm>
          <a:blipFill dpi="0" rotWithShape="1">
            <a:blip r:embed="rId4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13724" y="886653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413" y="2141103"/>
            <a:ext cx="4207817" cy="1695637"/>
          </a:xfrm>
        </p:spPr>
        <p:txBody>
          <a:bodyPr/>
          <a:lstStyle/>
          <a:p>
            <a:r>
              <a:rPr lang="en-IN" sz="3600" dirty="0"/>
              <a:t>Mutual Fund Analytics Capstone Project</a:t>
            </a:r>
            <a:br>
              <a:rPr lang="en-IN" sz="3600" dirty="0"/>
            </a:br>
            <a:r>
              <a:rPr lang="en-IN" sz="1600" dirty="0"/>
              <a:t>Advanced Data Analytics &amp; Business Intelligence</a:t>
            </a:r>
            <a:endParaRPr lang="en-US" sz="16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99585" y="4506925"/>
            <a:ext cx="3222836" cy="1168530"/>
          </a:xfrm>
        </p:spPr>
        <p:txBody>
          <a:bodyPr/>
          <a:lstStyle/>
          <a:p>
            <a:r>
              <a:rPr lang="en-US" dirty="0"/>
              <a:t>July 24</a:t>
            </a:r>
            <a:r>
              <a:rPr lang="en-US" baseline="30000" dirty="0"/>
              <a:t>th</a:t>
            </a:r>
            <a:r>
              <a:rPr lang="en-US" dirty="0"/>
              <a:t>, 2026 </a:t>
            </a:r>
          </a:p>
          <a:p>
            <a:r>
              <a:rPr lang="en-US" dirty="0"/>
              <a:t>By: Seelam Venu Keerthana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067" y="265032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679" y="332752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961" y="405474"/>
            <a:ext cx="6073254" cy="382142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6728" y="1139588"/>
            <a:ext cx="6864823" cy="531293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The mutual fund industry generates massive amounts of financial data every day.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Investors often struggle to: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Select suitable mutual funds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Compare fund performance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Measure investment risk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Track portfolio growth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Make data-driven investment decisions</a:t>
            </a:r>
          </a:p>
          <a:p>
            <a:pPr marL="0" indent="0">
              <a:buNone/>
            </a:pPr>
            <a:r>
              <a:rPr lang="en-IN" b="1" dirty="0"/>
              <a:t>Solution: </a:t>
            </a:r>
            <a:r>
              <a:rPr lang="en-IN" dirty="0"/>
              <a:t>Develop a comprehensive Mutual Fund Analytics Platform using:</a:t>
            </a:r>
          </a:p>
          <a:p>
            <a:pPr marL="0" indent="0">
              <a:buNone/>
            </a:pPr>
            <a:r>
              <a:rPr lang="en-IN" dirty="0"/>
              <a:t>-&gt;Python -&gt;SQLite -&gt;Power BI -&gt;Data Analytics -&gt;Financial Performance Metrics </a:t>
            </a:r>
          </a:p>
          <a:p>
            <a:endParaRPr lang="en-IN" dirty="0"/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5EAB7860-C105-46A8-8B51-C886DCFAB5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6838" r="26838"/>
          <a:stretch/>
        </p:blipFill>
        <p:spPr/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D6EA8-303F-5271-0753-937F0A1E8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04C6-6111-84D3-5FD0-E92E2FD5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05213"/>
            <a:ext cx="5753100" cy="830997"/>
          </a:xfrm>
        </p:spPr>
        <p:txBody>
          <a:bodyPr/>
          <a:lstStyle/>
          <a:p>
            <a:r>
              <a:rPr lang="en-IN" dirty="0"/>
              <a:t>Project Objectives</a:t>
            </a:r>
            <a:endParaRPr lang="en-US" dirty="0"/>
          </a:p>
        </p:txBody>
      </p:sp>
      <p:pic>
        <p:nvPicPr>
          <p:cNvPr id="25" name="Picture Placeholder 4">
            <a:extLst>
              <a:ext uri="{FF2B5EF4-FFF2-40B4-BE49-F238E27FC236}">
                <a16:creationId xmlns:a16="http://schemas.microsoft.com/office/drawing/2014/main" id="{E06D271B-6BB1-21FC-9768-9E1385C09FC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10062" b="10062"/>
          <a:stretch/>
        </p:blipFill>
        <p:spPr>
          <a:xfrm>
            <a:off x="9261475" y="0"/>
            <a:ext cx="2930525" cy="1560513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7DF9838-86C8-08FF-83E0-E963AE62F7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800" dirty="0"/>
              <a:t>OBJECTIVES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CFD0CF-B457-D498-530A-07914B34E9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" y="2495968"/>
            <a:ext cx="5067300" cy="2935288"/>
          </a:xfrm>
        </p:spPr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historical NAV data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Study investor behaviour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Evaluate fund performance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Calculate financial metrics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Build interactive dashboards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Recommend high-performing mutual funds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Measure investment risk using Value at Risk (</a:t>
            </a:r>
            <a:r>
              <a:rPr lang="en-IN" dirty="0" err="1"/>
              <a:t>VaR</a:t>
            </a:r>
            <a:r>
              <a:rPr lang="en-IN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42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7D52D-D6D1-7E58-65FE-49E844C00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1A5B1D4-C499-EB68-6C5B-3D76321031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38900" y="1560513"/>
            <a:ext cx="5080000" cy="438150"/>
          </a:xfrm>
        </p:spPr>
        <p:txBody>
          <a:bodyPr/>
          <a:lstStyle/>
          <a:p>
            <a:r>
              <a:rPr lang="en-IN" dirty="0"/>
              <a:t>Total Records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9AA265-63A0-6894-2056-FC6FE39D3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5501564" cy="830997"/>
          </a:xfrm>
        </p:spPr>
        <p:txBody>
          <a:bodyPr/>
          <a:lstStyle/>
          <a:p>
            <a:r>
              <a:rPr lang="en-IN" dirty="0"/>
              <a:t>Dataset Overview</a:t>
            </a:r>
            <a:endParaRPr lang="en-US" dirty="0"/>
          </a:p>
        </p:txBody>
      </p:sp>
      <p:pic>
        <p:nvPicPr>
          <p:cNvPr id="25" name="Picture Placeholder 4" descr="close up of building">
            <a:extLst>
              <a:ext uri="{FF2B5EF4-FFF2-40B4-BE49-F238E27FC236}">
                <a16:creationId xmlns:a16="http://schemas.microsoft.com/office/drawing/2014/main" id="{98159BC5-A711-5998-0E80-47292A298F5F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/>
          <a:srcRect t="10082" b="10082"/>
          <a:stretch/>
        </p:blipFill>
        <p:spPr>
          <a:xfrm>
            <a:off x="9261475" y="0"/>
            <a:ext cx="2930525" cy="1560513"/>
          </a:xfr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F4446C3-7976-ADE4-31AB-D2FF23872A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38900" y="1961356"/>
            <a:ext cx="5067300" cy="2935288"/>
          </a:xfrm>
        </p:spPr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Total NAV Records: 46000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Total Investor Transactions: 32778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Total Mutual Fund Schemes: 40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Fund Houses: 10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Categories: 2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States: 12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Unique Investors: 5000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3D69D6-8126-2C66-0965-5DA465AEFC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1524872"/>
            <a:ext cx="5080000" cy="438150"/>
          </a:xfrm>
        </p:spPr>
        <p:txBody>
          <a:bodyPr/>
          <a:lstStyle/>
          <a:p>
            <a:r>
              <a:rPr lang="en-IN" dirty="0"/>
              <a:t>Dataset Used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ACFEF7-740B-C5F4-3BF3-0886EBDF40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3100" y="1943101"/>
            <a:ext cx="5067300" cy="3477456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My project consists of </a:t>
            </a:r>
            <a:r>
              <a:rPr lang="en-IN" b="1" dirty="0"/>
              <a:t>10 datasets</a:t>
            </a:r>
            <a:r>
              <a:rPr lang="en-IN" dirty="0"/>
              <a:t>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Fund Master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NAV History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AUM by Fund House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Monthly SIP Inflows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Category Inflows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Industry Folio Count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Scheme Performance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Investor Transactions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Portfolio Holdings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Benchmark Indices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893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ABE1DD-210D-FE5D-A2C9-BCAA8EBA10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16555" y="528562"/>
            <a:ext cx="4220845" cy="409529"/>
          </a:xfrm>
        </p:spPr>
        <p:txBody>
          <a:bodyPr/>
          <a:lstStyle/>
          <a:p>
            <a:r>
              <a:rPr lang="en-IN" sz="4800" dirty="0">
                <a:solidFill>
                  <a:schemeClr val="tx1"/>
                </a:solidFill>
              </a:rPr>
              <a:t>ETL Pipeline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A5BD6C43-C9E6-3FAF-5C08-E86FD2DDE83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9855" r="9855"/>
          <a:stretch>
            <a:fillRect/>
          </a:stretch>
        </p:blipFill>
        <p:spPr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CA1820E-0CC7-DBE8-FDD5-816EAA95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913" y="1671851"/>
            <a:ext cx="4992678" cy="2127685"/>
          </a:xfrm>
        </p:spPr>
        <p:txBody>
          <a:bodyPr/>
          <a:lstStyle/>
          <a:p>
            <a:r>
              <a:rPr lang="en-IN" sz="1800" dirty="0"/>
              <a:t>CSV Files</a:t>
            </a:r>
            <a:br>
              <a:rPr lang="en-IN" sz="1800" dirty="0"/>
            </a:br>
            <a:r>
              <a:rPr lang="en-IN" sz="1800" dirty="0"/>
              <a:t>      ↓</a:t>
            </a:r>
            <a:br>
              <a:rPr lang="en-IN" sz="1800" dirty="0"/>
            </a:br>
            <a:r>
              <a:rPr lang="en-IN" sz="1800" dirty="0"/>
              <a:t>Data Cleaning</a:t>
            </a:r>
            <a:br>
              <a:rPr lang="en-IN" sz="1800" dirty="0"/>
            </a:br>
            <a:r>
              <a:rPr lang="en-IN" sz="1800" dirty="0"/>
              <a:t>      ↓</a:t>
            </a:r>
            <a:br>
              <a:rPr lang="en-IN" sz="1800" dirty="0"/>
            </a:br>
            <a:r>
              <a:rPr lang="en-IN" sz="1800" dirty="0"/>
              <a:t>Feature Engineering</a:t>
            </a:r>
            <a:br>
              <a:rPr lang="en-IN" sz="1800" dirty="0"/>
            </a:br>
            <a:r>
              <a:rPr lang="en-IN" sz="1800" dirty="0"/>
              <a:t>      ↓</a:t>
            </a:r>
            <a:br>
              <a:rPr lang="en-IN" sz="1800" dirty="0"/>
            </a:br>
            <a:r>
              <a:rPr lang="en-IN" sz="1800" dirty="0"/>
              <a:t>SQLite Database</a:t>
            </a:r>
            <a:br>
              <a:rPr lang="en-IN" sz="1800" dirty="0"/>
            </a:br>
            <a:r>
              <a:rPr lang="en-IN" sz="1800" dirty="0"/>
              <a:t>      ↓</a:t>
            </a:r>
            <a:br>
              <a:rPr lang="en-IN" sz="1800" dirty="0"/>
            </a:br>
            <a:r>
              <a:rPr lang="en-IN" sz="1800" dirty="0"/>
              <a:t>Python Analytics</a:t>
            </a:r>
            <a:br>
              <a:rPr lang="en-IN" sz="1800" dirty="0"/>
            </a:br>
            <a:r>
              <a:rPr lang="en-IN" sz="1800" dirty="0"/>
              <a:t>      ↓</a:t>
            </a:r>
            <a:br>
              <a:rPr lang="en-IN" sz="1800" dirty="0"/>
            </a:br>
            <a:r>
              <a:rPr lang="en-IN" sz="1800" dirty="0"/>
              <a:t>Power BI Dashboard</a:t>
            </a:r>
            <a:br>
              <a:rPr lang="en-IN" sz="1800" dirty="0"/>
            </a:br>
            <a:br>
              <a:rPr lang="en-IN" sz="1800" dirty="0"/>
            </a:br>
            <a:endParaRPr lang="en-IN" sz="1800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98BFFAD3-F10B-DB0B-EC99-EC4819E4DFCB}"/>
              </a:ext>
            </a:extLst>
          </p:cNvPr>
          <p:cNvSpPr txBox="1">
            <a:spLocks/>
          </p:cNvSpPr>
          <p:nvPr/>
        </p:nvSpPr>
        <p:spPr>
          <a:xfrm>
            <a:off x="6265103" y="1319187"/>
            <a:ext cx="4220845" cy="40952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chemeClr val="tx1"/>
                </a:solidFill>
              </a:rPr>
              <a:t>ETL Workflow:</a:t>
            </a:r>
          </a:p>
        </p:txBody>
      </p:sp>
      <p:sp>
        <p:nvSpPr>
          <p:cNvPr id="19" name="Title 7">
            <a:extLst>
              <a:ext uri="{FF2B5EF4-FFF2-40B4-BE49-F238E27FC236}">
                <a16:creationId xmlns:a16="http://schemas.microsoft.com/office/drawing/2014/main" id="{0A25089D-BDA0-8DA0-55CB-315B469581CB}"/>
              </a:ext>
            </a:extLst>
          </p:cNvPr>
          <p:cNvSpPr txBox="1">
            <a:spLocks/>
          </p:cNvSpPr>
          <p:nvPr/>
        </p:nvSpPr>
        <p:spPr>
          <a:xfrm>
            <a:off x="8815252" y="1671851"/>
            <a:ext cx="4992678" cy="212768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1800" dirty="0"/>
              <a:t>Data Cleaning 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Missing Value Handling 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Duplicate Removal 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Data Validation 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SQL Integration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6DA27D7-AF72-0A50-3A58-A52C11714329}"/>
              </a:ext>
            </a:extLst>
          </p:cNvPr>
          <p:cNvSpPr txBox="1">
            <a:spLocks/>
          </p:cNvSpPr>
          <p:nvPr/>
        </p:nvSpPr>
        <p:spPr>
          <a:xfrm>
            <a:off x="8815252" y="1319187"/>
            <a:ext cx="4220845" cy="40952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chemeClr val="tx1"/>
                </a:solidFill>
              </a:rPr>
              <a:t>Mention:</a:t>
            </a:r>
          </a:p>
        </p:txBody>
      </p:sp>
    </p:spTree>
    <p:extLst>
      <p:ext uri="{BB962C8B-B14F-4D97-AF65-F5344CB8AC3E}">
        <p14:creationId xmlns:p14="http://schemas.microsoft.com/office/powerpoint/2010/main" val="1604623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CCA635BD-DA98-6F4D-62C5-281F646CDC8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/>
        </p:blipFill>
        <p:spPr>
          <a:xfrm>
            <a:off x="7827744" y="328269"/>
            <a:ext cx="931682" cy="912813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934B6976-FA2B-811E-272C-74FC680D2D4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4455381" y="1321948"/>
            <a:ext cx="3281238" cy="2507804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17CFFE4A-7535-243D-8A88-9C819D5C689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/>
          <a:stretch>
            <a:fillRect/>
          </a:stretch>
        </p:blipFill>
        <p:spPr>
          <a:xfrm>
            <a:off x="854406" y="1321948"/>
            <a:ext cx="3281238" cy="2507804"/>
          </a:xfrm>
          <a:prstGeom prst="rect">
            <a:avLst/>
          </a:prstGeom>
        </p:spPr>
      </p:pic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473B438B-04B9-9747-0313-A205C80C3BC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5"/>
          <a:stretch>
            <a:fillRect/>
          </a:stretch>
        </p:blipFill>
        <p:spPr>
          <a:xfrm>
            <a:off x="8161462" y="1321948"/>
            <a:ext cx="3281238" cy="2507804"/>
          </a:xfrm>
          <a:prstGeom prst="rect">
            <a:avLst/>
          </a:prstGeom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572E07E4-33D1-7D32-E294-B523B7A56ED1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6"/>
          <a:stretch>
            <a:fillRect/>
          </a:stretch>
        </p:blipFill>
        <p:spPr>
          <a:xfrm>
            <a:off x="854406" y="3990087"/>
            <a:ext cx="4191528" cy="250780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F5EB474-B8B6-9F07-8C4A-36AC26624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553457"/>
            <a:ext cx="10693400" cy="830997"/>
          </a:xfrm>
        </p:spPr>
        <p:txBody>
          <a:bodyPr/>
          <a:lstStyle/>
          <a:p>
            <a:r>
              <a:rPr lang="en-IN" dirty="0"/>
              <a:t>Exploratory Data Analysis</a:t>
            </a:r>
            <a:br>
              <a:rPr lang="en-IN" dirty="0"/>
            </a:br>
            <a:endParaRPr lang="en-IN" dirty="0"/>
          </a:p>
        </p:txBody>
      </p:sp>
      <p:sp>
        <p:nvSpPr>
          <p:cNvPr id="23" name="Title 4">
            <a:extLst>
              <a:ext uri="{FF2B5EF4-FFF2-40B4-BE49-F238E27FC236}">
                <a16:creationId xmlns:a16="http://schemas.microsoft.com/office/drawing/2014/main" id="{3444E998-D275-9BF6-6A98-37DEA89CFF05}"/>
              </a:ext>
            </a:extLst>
          </p:cNvPr>
          <p:cNvSpPr txBox="1">
            <a:spLocks/>
          </p:cNvSpPr>
          <p:nvPr/>
        </p:nvSpPr>
        <p:spPr>
          <a:xfrm>
            <a:off x="5274250" y="4021927"/>
            <a:ext cx="6063344" cy="25078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/>
              <a:t>Key 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/>
              <a:t>Large Cap funds have stable returns.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/>
              <a:t>Small Cap funds show higher volatility.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/>
              <a:t>Liquid funds exhibit the lowest risk.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/>
              <a:t>Direct plans generally have lower expense ratios.</a:t>
            </a:r>
          </a:p>
        </p:txBody>
      </p:sp>
    </p:spTree>
    <p:extLst>
      <p:ext uri="{BB962C8B-B14F-4D97-AF65-F5344CB8AC3E}">
        <p14:creationId xmlns:p14="http://schemas.microsoft.com/office/powerpoint/2010/main" val="59466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AE06D8-83EF-5A6B-3872-72B48E7BF5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881" y="1316293"/>
            <a:ext cx="4143374" cy="2654301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Financial Metrics Calculated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CAGR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Sharpe Ratio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Sortino Ratio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Alpha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Beta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Maximum Drawdown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Standard Deviation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Annual Returns</a:t>
            </a:r>
          </a:p>
          <a:p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058EA5-5FB0-32F1-043D-9DFB5A9F1B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6470555" cy="759470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These metrics help evaluate risk-adjusted fund performance.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015D7FCF-3705-73E9-5A05-A9EADD7BCDA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2962" r="12962"/>
          <a:stretch/>
        </p:blipFill>
        <p:spPr>
          <a:xfrm>
            <a:off x="5921521" y="485296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8DEBA4DF-71BD-BE55-B884-326FF810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485296"/>
            <a:ext cx="6470555" cy="830997"/>
          </a:xfrm>
        </p:spPr>
        <p:txBody>
          <a:bodyPr/>
          <a:lstStyle/>
          <a:p>
            <a:r>
              <a:rPr lang="en-IN" dirty="0"/>
              <a:t>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939553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79CB8A2-5627-C248-73FE-A902F1453A3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838200" y="1279663"/>
            <a:ext cx="5357572" cy="453186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97CD99E-B1FE-BA38-F2F5-84C2C3270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Power BI Dashboard</a:t>
            </a: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2196E8DB-CDA2-DD05-DD99-8E9DEBCE344D}"/>
              </a:ext>
            </a:extLst>
          </p:cNvPr>
          <p:cNvSpPr txBox="1">
            <a:spLocks/>
          </p:cNvSpPr>
          <p:nvPr/>
        </p:nvSpPr>
        <p:spPr>
          <a:xfrm>
            <a:off x="1679812" y="5756075"/>
            <a:ext cx="5614917" cy="70011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Image 1: Industry Overview</a:t>
            </a:r>
            <a:endParaRPr lang="en-IN" sz="2000" b="0" dirty="0"/>
          </a:p>
        </p:txBody>
      </p:sp>
      <p:pic>
        <p:nvPicPr>
          <p:cNvPr id="11" name="Content Placeholder 8">
            <a:extLst>
              <a:ext uri="{FF2B5EF4-FFF2-40B4-BE49-F238E27FC236}">
                <a16:creationId xmlns:a16="http://schemas.microsoft.com/office/drawing/2014/main" id="{8711DE11-A70B-AC3A-3423-A79EE37CFC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14699" y="1279663"/>
            <a:ext cx="5194934" cy="4531863"/>
          </a:xfrm>
          <a:prstGeom prst="rect">
            <a:avLst/>
          </a:prstGeom>
        </p:spPr>
      </p:pic>
      <p:sp>
        <p:nvSpPr>
          <p:cNvPr id="14" name="Title 5">
            <a:extLst>
              <a:ext uri="{FF2B5EF4-FFF2-40B4-BE49-F238E27FC236}">
                <a16:creationId xmlns:a16="http://schemas.microsoft.com/office/drawing/2014/main" id="{7328C0C8-9F48-64C6-0D2D-45CADDE57795}"/>
              </a:ext>
            </a:extLst>
          </p:cNvPr>
          <p:cNvSpPr txBox="1">
            <a:spLocks/>
          </p:cNvSpPr>
          <p:nvPr/>
        </p:nvSpPr>
        <p:spPr>
          <a:xfrm>
            <a:off x="7605215" y="5756074"/>
            <a:ext cx="3748585" cy="70011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Image 2: Fund Performance</a:t>
            </a:r>
            <a:endParaRPr lang="en-IN" sz="2000" b="0" dirty="0"/>
          </a:p>
        </p:txBody>
      </p:sp>
    </p:spTree>
    <p:extLst>
      <p:ext uri="{BB962C8B-B14F-4D97-AF65-F5344CB8AC3E}">
        <p14:creationId xmlns:p14="http://schemas.microsoft.com/office/powerpoint/2010/main" val="1441292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65BF3-7F16-AD9E-55BE-5B71FAC8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4D85CD1-857C-F8AF-C1A5-8A1D98C8E1D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/>
          <a:stretch/>
        </p:blipFill>
        <p:spPr>
          <a:xfrm>
            <a:off x="838200" y="1279663"/>
            <a:ext cx="5357572" cy="453186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D25B414-C1AE-5EE0-DA7C-54ED68AA1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Power BI Dashboard</a:t>
            </a: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70B08EEF-C839-7E25-1618-426CEB4DC449}"/>
              </a:ext>
            </a:extLst>
          </p:cNvPr>
          <p:cNvSpPr txBox="1">
            <a:spLocks/>
          </p:cNvSpPr>
          <p:nvPr/>
        </p:nvSpPr>
        <p:spPr>
          <a:xfrm>
            <a:off x="1679812" y="5756075"/>
            <a:ext cx="3417627" cy="70011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Image 3: Investor Analytics</a:t>
            </a:r>
            <a:endParaRPr lang="en-IN" sz="2000" b="0" dirty="0"/>
          </a:p>
        </p:txBody>
      </p:sp>
      <p:pic>
        <p:nvPicPr>
          <p:cNvPr id="11" name="Content Placeholder 8">
            <a:extLst>
              <a:ext uri="{FF2B5EF4-FFF2-40B4-BE49-F238E27FC236}">
                <a16:creationId xmlns:a16="http://schemas.microsoft.com/office/drawing/2014/main" id="{4B5DB278-F349-3288-9FAD-8C315950E7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52062" y="1279663"/>
            <a:ext cx="5357572" cy="4531864"/>
          </a:xfrm>
          <a:prstGeom prst="rect">
            <a:avLst/>
          </a:prstGeom>
        </p:spPr>
      </p:pic>
      <p:sp>
        <p:nvSpPr>
          <p:cNvPr id="14" name="Title 5">
            <a:extLst>
              <a:ext uri="{FF2B5EF4-FFF2-40B4-BE49-F238E27FC236}">
                <a16:creationId xmlns:a16="http://schemas.microsoft.com/office/drawing/2014/main" id="{45FF8E19-0E40-544B-D73A-6D494F7F2DFC}"/>
              </a:ext>
            </a:extLst>
          </p:cNvPr>
          <p:cNvSpPr txBox="1">
            <a:spLocks/>
          </p:cNvSpPr>
          <p:nvPr/>
        </p:nvSpPr>
        <p:spPr>
          <a:xfrm>
            <a:off x="7605215" y="5756074"/>
            <a:ext cx="3748585" cy="70011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Image 4: Portfolio Holdings</a:t>
            </a:r>
            <a:endParaRPr lang="en-IN" sz="2000" b="0" dirty="0"/>
          </a:p>
        </p:txBody>
      </p:sp>
    </p:spTree>
    <p:extLst>
      <p:ext uri="{BB962C8B-B14F-4D97-AF65-F5344CB8AC3E}">
        <p14:creationId xmlns:p14="http://schemas.microsoft.com/office/powerpoint/2010/main" val="2517254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42FF4-6981-34D5-6088-FE6F45C65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3976CB4-82D4-B4EC-5546-AC02A1224D6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/>
          <a:stretch/>
        </p:blipFill>
        <p:spPr>
          <a:xfrm>
            <a:off x="988325" y="1335115"/>
            <a:ext cx="10584976" cy="453186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CA05EED-034A-E8D5-113C-DF420526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Power BI Dashboard</a:t>
            </a: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D60F6C61-34E3-6667-0A00-628D30D6781F}"/>
              </a:ext>
            </a:extLst>
          </p:cNvPr>
          <p:cNvSpPr txBox="1">
            <a:spLocks/>
          </p:cNvSpPr>
          <p:nvPr/>
        </p:nvSpPr>
        <p:spPr>
          <a:xfrm>
            <a:off x="4387186" y="5790195"/>
            <a:ext cx="3417627" cy="70011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/>
              <a:t>Image 5: Benchmark Analysis</a:t>
            </a:r>
            <a:endParaRPr lang="en-IN" sz="2000" b="0" dirty="0"/>
          </a:p>
        </p:txBody>
      </p:sp>
    </p:spTree>
    <p:extLst>
      <p:ext uri="{BB962C8B-B14F-4D97-AF65-F5344CB8AC3E}">
        <p14:creationId xmlns:p14="http://schemas.microsoft.com/office/powerpoint/2010/main" val="2632371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86E3817-CED9-FA82-89D4-61C5B4E96FD1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660400" y="1506688"/>
            <a:ext cx="3781946" cy="3010721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3A4CDEE-B63A-5079-D212-E07EE077A00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4442345" y="1506688"/>
            <a:ext cx="7240139" cy="3010721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9F64732B-2C0C-6135-A892-749113218BD5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4"/>
          <a:stretch>
            <a:fillRect/>
          </a:stretch>
        </p:blipFill>
        <p:spPr>
          <a:xfrm>
            <a:off x="660400" y="4507478"/>
            <a:ext cx="3781944" cy="168766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68EE4A3-D0D5-363A-2119-7681AD2F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602905"/>
            <a:ext cx="10693400" cy="830997"/>
          </a:xfrm>
        </p:spPr>
        <p:txBody>
          <a:bodyPr/>
          <a:lstStyle/>
          <a:p>
            <a:r>
              <a:rPr lang="en-IN" dirty="0"/>
              <a:t>Advanced Analytics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FBBBA4D8-64F8-9525-1368-23D93616E086}"/>
              </a:ext>
            </a:extLst>
          </p:cNvPr>
          <p:cNvSpPr txBox="1">
            <a:spLocks/>
          </p:cNvSpPr>
          <p:nvPr/>
        </p:nvSpPr>
        <p:spPr>
          <a:xfrm>
            <a:off x="4600054" y="4662980"/>
            <a:ext cx="6753746" cy="15321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/>
              <a:t>Daily Return Calculation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/>
              <a:t>Historical </a:t>
            </a:r>
            <a:r>
              <a:rPr lang="en-IN" sz="2000" b="0" dirty="0" err="1"/>
              <a:t>VaR</a:t>
            </a:r>
            <a:r>
              <a:rPr lang="en-IN" sz="2000" b="0" dirty="0"/>
              <a:t> (95%)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/>
              <a:t>Monthly Investor Cohort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/>
              <a:t>Recommendation Engine</a:t>
            </a:r>
          </a:p>
        </p:txBody>
      </p:sp>
    </p:spTree>
    <p:extLst>
      <p:ext uri="{BB962C8B-B14F-4D97-AF65-F5344CB8AC3E}">
        <p14:creationId xmlns:p14="http://schemas.microsoft.com/office/powerpoint/2010/main" val="1440048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81D1D90-EFFC-D8A3-0663-98E664F7A22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1675" r="21675"/>
          <a:stretch>
            <a:fillRect/>
          </a:stretch>
        </p:blipFill>
        <p:spPr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334C7E-21DE-A908-141A-BB3F1C513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1659642"/>
            <a:ext cx="6286310" cy="3560763"/>
          </a:xfrm>
        </p:spPr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Successfully </a:t>
            </a:r>
            <a:r>
              <a:rPr lang="en-IN" dirty="0" err="1"/>
              <a:t>analyzed</a:t>
            </a:r>
            <a:r>
              <a:rPr lang="en-IN" dirty="0"/>
              <a:t> mutual fund performance.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Investors aged </a:t>
            </a:r>
            <a:r>
              <a:rPr lang="en-IN" b="1" dirty="0"/>
              <a:t>26–35</a:t>
            </a:r>
            <a:r>
              <a:rPr lang="en-IN" dirty="0"/>
              <a:t> contributed the highest investments.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Verified KYC investors dominated transactions.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Liquid funds achieved the highest recommendation scores.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Power BI dashboards enabled interactive analysis.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Risk metrics improved investment evaluation. </a:t>
            </a:r>
          </a:p>
          <a:p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A4F266-7B7B-0225-5ED4-F77B51AA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</a:p>
        </p:txBody>
      </p:sp>
    </p:spTree>
    <p:extLst>
      <p:ext uri="{BB962C8B-B14F-4D97-AF65-F5344CB8AC3E}">
        <p14:creationId xmlns:p14="http://schemas.microsoft.com/office/powerpoint/2010/main" val="47699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9B8E84-F9A0-F258-141D-4D3D62EC6D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115" y="1574081"/>
            <a:ext cx="5080000" cy="43815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8FB27B-0A94-F583-A9B4-67A012FB0A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399" y="2061363"/>
            <a:ext cx="11056203" cy="293528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project demonstrates how analytics and business intelligence can transform raw financial data into actionable investment insights.</a:t>
            </a:r>
          </a:p>
          <a:p>
            <a:pPr marL="0" indent="0">
              <a:buNone/>
            </a:pPr>
            <a:r>
              <a:rPr lang="en-IN" b="1" dirty="0"/>
              <a:t>Future Scope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Live Mutual Fund API Integration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AI-Based Fund Recommendation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 err="1"/>
              <a:t>Streamlit</a:t>
            </a:r>
            <a:r>
              <a:rPr lang="en-IN" dirty="0"/>
              <a:t> Web Application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Portfolio Optimization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Real-Time Dashboard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99B429FE-EE29-6DCD-DF04-4AE6DBA55DC0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7404" r="7404"/>
          <a:stretch>
            <a:fillRect/>
          </a:stretch>
        </p:blipFill>
        <p:spPr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45DEC53-70D3-4B5D-BA6C-8F042CDCB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7569200" cy="830997"/>
          </a:xfrm>
        </p:spPr>
        <p:txBody>
          <a:bodyPr/>
          <a:lstStyle/>
          <a:p>
            <a:r>
              <a:rPr lang="en-IN" dirty="0"/>
              <a:t>Conclusion &amp; Future Scope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5872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193</TotalTime>
  <Words>434</Words>
  <Application>Microsoft Office PowerPoint</Application>
  <PresentationFormat>Widescreen</PresentationFormat>
  <Paragraphs>100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Mutual Fund Analytics Capstone Project Advanced Data Analytics &amp; Business Intelligence</vt:lpstr>
      <vt:lpstr>Problem Statement</vt:lpstr>
      <vt:lpstr>Project Objectives</vt:lpstr>
      <vt:lpstr>Dataset Overview</vt:lpstr>
      <vt:lpstr>CSV Files       ↓ Data Cleaning       ↓ Feature Engineering       ↓ SQLite Database       ↓ Python Analytics       ↓ Power BI Dashboard  </vt:lpstr>
      <vt:lpstr>Exploratory Data Analysis </vt:lpstr>
      <vt:lpstr>Performance Analytics</vt:lpstr>
      <vt:lpstr>Power BI Dashboard</vt:lpstr>
      <vt:lpstr>Power BI Dashboard</vt:lpstr>
      <vt:lpstr>Power BI Dashboard</vt:lpstr>
      <vt:lpstr>Advanced Analytics</vt:lpstr>
      <vt:lpstr>Key Findings</vt:lpstr>
      <vt:lpstr>Conclusion &amp; Future Scope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Venu Keerthana Seelam</dc:creator>
  <cp:lastModifiedBy>Venu Keerthana Seelam</cp:lastModifiedBy>
  <cp:revision>9</cp:revision>
  <dcterms:created xsi:type="dcterms:W3CDTF">2026-07-26T15:29:16Z</dcterms:created>
  <dcterms:modified xsi:type="dcterms:W3CDTF">2026-07-27T16:17:41Z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